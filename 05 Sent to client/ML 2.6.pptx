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97" r:id="rId3"/>
    <p:sldId id="298" r:id="rId4"/>
    <p:sldId id="299" r:id="rId5"/>
    <p:sldId id="304" r:id="rId6"/>
    <p:sldId id="301" r:id="rId7"/>
    <p:sldId id="308" r:id="rId8"/>
    <p:sldId id="309" r:id="rId9"/>
    <p:sldId id="307" r:id="rId10"/>
    <p:sldId id="30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756C055-C16E-50F2-9A1A-AE195413FEBB}" name="Akın" initials="A" userId="4f940d112899d71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4A9E0-89F0-998A-DF0B-DFD03A85A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A2A7B8-8A46-671F-F9DA-31EBD2DEB6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068C0-5D09-3CCE-F4F2-79D7F0CF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85B2-2C3A-46AD-B676-00F247B8EBF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3D3BD-FBC5-D275-DC71-78264BCD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45923-B812-9FC7-2AD8-43F6E33D0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E921D-6C02-4FB7-8968-530852FAB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84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F2DF-FDD3-B82F-07FD-117928FAC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67A45-F30F-8359-0128-ED69BAC15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37FB1-CCD1-82B3-804B-42BF8FE0F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85B2-2C3A-46AD-B676-00F247B8EBF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82F51-DC9D-0B37-5E5E-FFE7FDEBA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58C6A-1B58-A8B8-7926-E74B8D7BB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E921D-6C02-4FB7-8968-530852FAB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25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FC98B-73E4-297D-7E5E-F66C9B374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2B0A0-B4ED-07C1-0CC4-430706950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7E7A4-CAD9-8071-961E-597B6EA41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85B2-2C3A-46AD-B676-00F247B8EBF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71D51-8ABA-E90D-BEBC-6149527DF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2D574-D4AA-FE01-BF06-D4C320DDD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E921D-6C02-4FB7-8968-530852FAB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06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A803D-1B6F-0AFB-3753-1C9AAB160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D6933-454B-1122-CBC8-69F50CF79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3418D6-199C-DCFC-6C0E-9B95D17FF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6EDEF-36AD-DC45-97DC-1E3E2A0D2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85B2-2C3A-46AD-B676-00F247B8EBF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54220-9845-8455-A336-35A0E5ABE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CFF7A-5AF9-8D6B-EE73-3D9EE24D4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E921D-6C02-4FB7-8968-530852FAB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98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29D9B-DE7F-8E62-A9B5-4604170BA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4C9F2-B9C9-4CD1-79A7-6A508EE41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D4949-E262-37AD-7824-2CCEB7008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E09FD8-D50B-CD5A-B372-44BF26BE9D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D9E2E4-5820-9839-9970-77111CC691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D41E11-0E87-20E5-BBD6-D384CFA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85B2-2C3A-46AD-B676-00F247B8EBF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AD5A29-34B3-0AD0-0CF1-012F4E061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749ED7-6C30-B7DA-A9BC-91A19FB6A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E921D-6C02-4FB7-8968-530852FAB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64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F9E49-7FBA-2972-7A9D-A0BA5D13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3665F-0322-BFC7-94CA-07ACDC396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85B2-2C3A-46AD-B676-00F247B8EBF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8112B6-85CD-AF96-B51B-49FE38DB6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E00EF-646E-316F-5066-82B1C0284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E921D-6C02-4FB7-8968-530852FAB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90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2CDC48-1156-33B0-964C-094F0F0C0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85B2-2C3A-46AD-B676-00F247B8EBF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854E4-4480-5FAA-2082-80A94D8AC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716D1-CC83-5971-7F9B-E65BECCC7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E921D-6C02-4FB7-8968-530852FAB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9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47CD7-F364-B4D6-53A3-72B3DB97D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BF27-C595-4CD4-462E-CDFF8D659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3C799-6516-019E-B8A0-941EC4DD4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9257A-73BB-D2DB-363E-9249419A9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85B2-2C3A-46AD-B676-00F247B8EBF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B46D9-5111-674A-E58A-BAD3579DC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727F7-8B34-AF3C-B05B-10893727B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E921D-6C02-4FB7-8968-530852FAB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08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2109-C8F1-C7B4-391E-96A758E3C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E1F63B-ED9E-9303-A7BD-7A1C9F634F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7A37D-FCFF-2B8B-79F5-6DD117523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C214A-0407-4895-9A8C-B50FCAE9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85B2-2C3A-46AD-B676-00F247B8EBF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9C8A2-2306-3AF4-FA90-8A304A7BA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3FED5-7CAB-122F-C6B6-DF1B5711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E921D-6C02-4FB7-8968-530852FAB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82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ED944-F7D4-C1D5-682A-2DE837B80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2C7379-106B-3E51-791A-3307F40E6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36BB8-7362-7AE4-7FB9-2BE33B495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85B2-2C3A-46AD-B676-00F247B8EBF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A39BD-5877-5F32-5D00-1EE063D81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8EC38-4EBA-2BF6-7CB5-65D7B539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E921D-6C02-4FB7-8968-530852FAB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363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63BCD3-67A9-F00A-4627-4118DF8C6E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D7EAFA-3EF4-9537-2FE0-DBD1DB09C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A8CED-1BB4-1DDF-C07F-A0281E620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85B2-2C3A-46AD-B676-00F247B8EBF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D9C9E-385B-BF3A-A3DE-7CC219E7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49D6D-0533-1CE7-BDAA-7D6AF85E4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E921D-6C02-4FB7-8968-530852FAB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499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1"/>
            <a:ext cx="103632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282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33" b="0" i="0">
                <a:solidFill>
                  <a:schemeClr val="bg1"/>
                </a:solidFill>
                <a:latin typeface="SimSun-ExtB"/>
                <a:cs typeface="SimSun-ExtB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9978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69497" y="688509"/>
            <a:ext cx="7853003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5310" y="1925998"/>
            <a:ext cx="9473353" cy="328231"/>
          </a:xfrm>
        </p:spPr>
        <p:txBody>
          <a:bodyPr lIns="0" tIns="0" rIns="0" bIns="0"/>
          <a:lstStyle>
            <a:lvl1pPr>
              <a:defRPr sz="2133" b="0" i="0">
                <a:solidFill>
                  <a:schemeClr val="bg1"/>
                </a:solidFill>
                <a:latin typeface="SimSun-ExtB"/>
                <a:cs typeface="SimSun-ExtB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8228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69497" y="688509"/>
            <a:ext cx="7853003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95611" y="1336378"/>
            <a:ext cx="3201247" cy="318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67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770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69497" y="688509"/>
            <a:ext cx="7853003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83650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49" y="-6349"/>
            <a:ext cx="12204700" cy="687069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55733" y="6473561"/>
            <a:ext cx="10261600" cy="0"/>
          </a:xfrm>
          <a:custGeom>
            <a:avLst/>
            <a:gdLst/>
            <a:ahLst/>
            <a:cxnLst/>
            <a:rect l="l" t="t" r="r" b="b"/>
            <a:pathLst>
              <a:path w="7696200">
                <a:moveTo>
                  <a:pt x="0" y="0"/>
                </a:moveTo>
                <a:lnTo>
                  <a:pt x="7695933" y="0"/>
                </a:lnTo>
              </a:path>
            </a:pathLst>
          </a:custGeom>
          <a:ln w="19050">
            <a:solidFill>
              <a:srgbClr val="71FFDD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068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03DECB-A447-E840-9B7B-068D7D758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EC9BA-8CF2-F110-ED5E-DD09DE6A2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798E5-1E73-7BF9-5EA7-F79F23DD9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A85B2-2C3A-46AD-B676-00F247B8EBF0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93818-9608-175A-5324-0360A9559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06F39-1BE9-6B51-2E74-3980821F2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E921D-6C02-4FB7-8968-530852FAB5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094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-6349" y="-6349"/>
            <a:ext cx="12204700" cy="687069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55733" y="6473561"/>
            <a:ext cx="10261600" cy="0"/>
          </a:xfrm>
          <a:custGeom>
            <a:avLst/>
            <a:gdLst/>
            <a:ahLst/>
            <a:cxnLst/>
            <a:rect l="l" t="t" r="r" b="b"/>
            <a:pathLst>
              <a:path w="7696200">
                <a:moveTo>
                  <a:pt x="0" y="0"/>
                </a:moveTo>
                <a:lnTo>
                  <a:pt x="7695933" y="0"/>
                </a:lnTo>
              </a:path>
            </a:pathLst>
          </a:custGeom>
          <a:ln w="19050">
            <a:solidFill>
              <a:srgbClr val="71FFDD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69497" y="688509"/>
            <a:ext cx="7853003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5310" y="1925998"/>
            <a:ext cx="9473353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SimSun-ExtB"/>
                <a:cs typeface="SimSun-ExtB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1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564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aan@kaanarslan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public.tableau.com/app/profile/kaan.arslan6544/vizzes" TargetMode="External"/><Relationship Id="rId3" Type="http://schemas.openxmlformats.org/officeDocument/2006/relationships/hyperlink" Target="https://bit.ly/3A1uf1Q" TargetMode="External"/><Relationship Id="rId7" Type="http://schemas.openxmlformats.org/officeDocument/2006/relationships/hyperlink" Target="https://github.com/arslankaan-hub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hyperlink" Target="mailto:kaan@kaanarslan.com" TargetMode="Externa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727F67-0DC0-977E-A487-6754E48A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D337115-AF50-9A6C-CEC2-A8389E0C97CC}"/>
              </a:ext>
            </a:extLst>
          </p:cNvPr>
          <p:cNvGrpSpPr/>
          <p:nvPr/>
        </p:nvGrpSpPr>
        <p:grpSpPr>
          <a:xfrm>
            <a:off x="-6349" y="-6349"/>
            <a:ext cx="12204700" cy="6870700"/>
            <a:chOff x="-4762" y="-4762"/>
            <a:chExt cx="9153525" cy="515302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F5B7D1DF-C7B5-7CE1-BBF2-E4FDB0B166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4762" y="-4762"/>
              <a:ext cx="9153525" cy="5153023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BA0CD06-C3CB-9C63-9B97-355A838AE17B}"/>
                </a:ext>
              </a:extLst>
            </p:cNvPr>
            <p:cNvSpPr/>
            <p:nvPr/>
          </p:nvSpPr>
          <p:spPr>
            <a:xfrm>
              <a:off x="716800" y="4855171"/>
              <a:ext cx="7696200" cy="0"/>
            </a:xfrm>
            <a:custGeom>
              <a:avLst/>
              <a:gdLst/>
              <a:ahLst/>
              <a:cxnLst/>
              <a:rect l="l" t="t" r="r" b="b"/>
              <a:pathLst>
                <a:path w="7696200">
                  <a:moveTo>
                    <a:pt x="0" y="0"/>
                  </a:moveTo>
                  <a:lnTo>
                    <a:pt x="7695933" y="0"/>
                  </a:lnTo>
                </a:path>
              </a:pathLst>
            </a:custGeom>
            <a:ln w="19050">
              <a:solidFill>
                <a:srgbClr val="71FFDD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0D9410CE-5AC3-B01D-71A4-EF80906A70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38400" y="2109384"/>
            <a:ext cx="6663267" cy="204927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Weather Conditions and Climate Change with </a:t>
            </a:r>
            <a:r>
              <a:rPr lang="en-US" sz="4400" dirty="0" err="1">
                <a:latin typeface="Arial" panose="020B0604020202020204" pitchFamily="34" charset="0"/>
                <a:cs typeface="Arial" panose="020B0604020202020204" pitchFamily="34" charset="0"/>
              </a:rPr>
              <a:t>ClimateWins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sz="42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F4BD5EB-1606-C145-64E3-083D7C0F2E25}"/>
              </a:ext>
            </a:extLst>
          </p:cNvPr>
          <p:cNvSpPr txBox="1"/>
          <p:nvPr/>
        </p:nvSpPr>
        <p:spPr>
          <a:xfrm>
            <a:off x="1076283" y="880364"/>
            <a:ext cx="3285067" cy="34447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defTabSz="1219170">
              <a:spcBef>
                <a:spcPts val="127"/>
              </a:spcBef>
            </a:pPr>
            <a:r>
              <a:rPr lang="tr-TR" sz="2133" kern="0" dirty="0">
                <a:solidFill>
                  <a:srgbClr val="71FFD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Kaan ARSLAN</a:t>
            </a:r>
            <a:endParaRPr sz="2133" kern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323DB3E-22CD-5D7C-7694-1E56DC356C52}"/>
              </a:ext>
            </a:extLst>
          </p:cNvPr>
          <p:cNvSpPr txBox="1"/>
          <p:nvPr/>
        </p:nvSpPr>
        <p:spPr>
          <a:xfrm>
            <a:off x="10850402" y="3425614"/>
            <a:ext cx="307777" cy="2606885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6933" defTabSz="1219170">
              <a:lnSpc>
                <a:spcPts val="2385"/>
              </a:lnSpc>
            </a:pPr>
            <a:r>
              <a:rPr sz="2133" kern="0" spc="-13" dirty="0">
                <a:solidFill>
                  <a:srgbClr val="71FFDD"/>
                </a:solidFill>
                <a:latin typeface="SimSun-ExtB"/>
                <a:cs typeface="SimSun-ExtB"/>
                <a:hlinkClick r:id="rId3"/>
              </a:rPr>
              <a:t>kaan@kaanarslan.com</a:t>
            </a:r>
            <a:endParaRPr sz="2133" kern="0">
              <a:solidFill>
                <a:sysClr val="windowText" lastClr="000000"/>
              </a:solidFill>
              <a:latin typeface="SimSun-ExtB"/>
              <a:cs typeface="SimSun-ExtB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239DB81-CDFC-0A7F-7E02-DE76ADB07AB6}"/>
              </a:ext>
            </a:extLst>
          </p:cNvPr>
          <p:cNvSpPr/>
          <p:nvPr/>
        </p:nvSpPr>
        <p:spPr>
          <a:xfrm>
            <a:off x="11010729" y="957580"/>
            <a:ext cx="0" cy="2153073"/>
          </a:xfrm>
          <a:custGeom>
            <a:avLst/>
            <a:gdLst/>
            <a:ahLst/>
            <a:cxnLst/>
            <a:rect l="l" t="t" r="r" b="b"/>
            <a:pathLst>
              <a:path h="1614805">
                <a:moveTo>
                  <a:pt x="0" y="1614551"/>
                </a:moveTo>
                <a:lnTo>
                  <a:pt x="0" y="0"/>
                </a:lnTo>
              </a:path>
            </a:pathLst>
          </a:custGeom>
          <a:ln w="19050">
            <a:solidFill>
              <a:srgbClr val="71FFDD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303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EC26CDD-A729-2E15-C8FE-C7EF0E121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6A0DC6A-10B2-91CA-0996-69F08AB070AD}"/>
              </a:ext>
            </a:extLst>
          </p:cNvPr>
          <p:cNvGrpSpPr/>
          <p:nvPr/>
        </p:nvGrpSpPr>
        <p:grpSpPr>
          <a:xfrm>
            <a:off x="-12700" y="-12700"/>
            <a:ext cx="12204700" cy="6870700"/>
            <a:chOff x="-4762" y="-4762"/>
            <a:chExt cx="9153525" cy="5153025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3D72EB29-55FB-555E-640B-09B2940089B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4762" y="-4762"/>
              <a:ext cx="9153525" cy="5153023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FF807EC-3168-38D4-45A6-DA4BEC75C8D8}"/>
                </a:ext>
              </a:extLst>
            </p:cNvPr>
            <p:cNvSpPr/>
            <p:nvPr/>
          </p:nvSpPr>
          <p:spPr>
            <a:xfrm>
              <a:off x="716800" y="4855171"/>
              <a:ext cx="7696200" cy="0"/>
            </a:xfrm>
            <a:custGeom>
              <a:avLst/>
              <a:gdLst/>
              <a:ahLst/>
              <a:cxnLst/>
              <a:rect l="l" t="t" r="r" b="b"/>
              <a:pathLst>
                <a:path w="7696200">
                  <a:moveTo>
                    <a:pt x="0" y="0"/>
                  </a:moveTo>
                  <a:lnTo>
                    <a:pt x="7695933" y="0"/>
                  </a:lnTo>
                </a:path>
              </a:pathLst>
            </a:custGeom>
            <a:ln w="19050">
              <a:solidFill>
                <a:srgbClr val="71FFDD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B3111345-807F-6836-1DFA-39ECAADCFC80}"/>
              </a:ext>
            </a:extLst>
          </p:cNvPr>
          <p:cNvSpPr txBox="1"/>
          <p:nvPr/>
        </p:nvSpPr>
        <p:spPr>
          <a:xfrm>
            <a:off x="1030901" y="2240281"/>
            <a:ext cx="6317827" cy="2847597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defTabSz="1219170">
              <a:spcBef>
                <a:spcPts val="127"/>
              </a:spcBef>
            </a:pPr>
            <a:r>
              <a:rPr sz="1600" b="1" kern="0" spc="-1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endParaRPr sz="1600" b="1" kern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• Identify weather patterns that fall outside normal regional behavior</a:t>
            </a:r>
            <a:r>
              <a:rPr lang="tr-TR" sz="1600" dirty="0">
                <a:solidFill>
                  <a:schemeClr val="bg1"/>
                </a:solidFill>
              </a:rPr>
              <a:t> in Europe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• Determine whether unusual or extreme events are becoming more frequent.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• Generate realistic possibilities for European climate conditions over the next 25–50 years.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• Evaluate which European regions will be the safest to live in as climate volatility increases</a:t>
            </a:r>
            <a:r>
              <a:rPr lang="tr-TR" sz="1600" dirty="0">
                <a:solidFill>
                  <a:schemeClr val="bg1"/>
                </a:solidFill>
              </a:rPr>
              <a:t> </a:t>
            </a:r>
            <a:r>
              <a:rPr lang="tr-TR" sz="1600" dirty="0" err="1">
                <a:solidFill>
                  <a:schemeClr val="bg1"/>
                </a:solidFill>
              </a:rPr>
              <a:t>over</a:t>
            </a:r>
            <a:r>
              <a:rPr lang="tr-TR" sz="1600" dirty="0">
                <a:solidFill>
                  <a:schemeClr val="bg1"/>
                </a:solidFill>
              </a:rPr>
              <a:t> </a:t>
            </a:r>
            <a:r>
              <a:rPr lang="tr-TR" sz="1600" dirty="0" err="1">
                <a:solidFill>
                  <a:schemeClr val="bg1"/>
                </a:solidFill>
              </a:rPr>
              <a:t>the</a:t>
            </a:r>
            <a:r>
              <a:rPr lang="tr-TR" sz="1600" dirty="0">
                <a:solidFill>
                  <a:schemeClr val="bg1"/>
                </a:solidFill>
              </a:rPr>
              <a:t> </a:t>
            </a:r>
            <a:r>
              <a:rPr lang="tr-TR" sz="1600" dirty="0" err="1">
                <a:solidFill>
                  <a:schemeClr val="bg1"/>
                </a:solidFill>
              </a:rPr>
              <a:t>next</a:t>
            </a:r>
            <a:r>
              <a:rPr lang="tr-TR" sz="1600" dirty="0">
                <a:solidFill>
                  <a:schemeClr val="bg1"/>
                </a:solidFill>
              </a:rPr>
              <a:t> 25-50 </a:t>
            </a:r>
            <a:r>
              <a:rPr lang="tr-TR" sz="1600" dirty="0" err="1">
                <a:solidFill>
                  <a:schemeClr val="bg1"/>
                </a:solidFill>
              </a:rPr>
              <a:t>years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marL="16933" defTabSz="1219170">
              <a:buSzPct val="160000"/>
              <a:tabLst>
                <a:tab pos="457189" algn="l"/>
              </a:tabLst>
            </a:pPr>
            <a:endParaRPr lang="tr-TR" sz="1333" kern="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933" defTabSz="1219170">
              <a:buSzPct val="160000"/>
              <a:tabLst>
                <a:tab pos="457189" algn="l"/>
              </a:tabLst>
            </a:pPr>
            <a:endParaRPr lang="tr-TR" sz="1333" kern="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933" defTabSz="1219170">
              <a:buSzPct val="160000"/>
              <a:tabLst>
                <a:tab pos="457189" algn="l"/>
              </a:tabLst>
            </a:pPr>
            <a:endParaRPr sz="1333" kern="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92EBC82-D45E-2918-B477-C8796EC24B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8901" y="871935"/>
            <a:ext cx="853440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48626" marR="6773" indent="-532540">
              <a:spcBef>
                <a:spcPts val="133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Weather Conditions and Climate Change wit</a:t>
            </a: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h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ClimateWins</a:t>
            </a:r>
            <a:endParaRPr sz="240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92FA53D-9B8F-E3D0-8007-2703414174CD}"/>
              </a:ext>
            </a:extLst>
          </p:cNvPr>
          <p:cNvSpPr txBox="1"/>
          <p:nvPr/>
        </p:nvSpPr>
        <p:spPr>
          <a:xfrm>
            <a:off x="10489353" y="704020"/>
            <a:ext cx="638387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b="1" kern="0" spc="-227" dirty="0">
                <a:solidFill>
                  <a:srgbClr val="71FFDD"/>
                </a:solidFill>
                <a:latin typeface="Trebuchet MS"/>
                <a:cs typeface="Trebuchet MS"/>
              </a:rPr>
              <a:t>//</a:t>
            </a:r>
            <a:r>
              <a:rPr sz="4000" b="1" kern="0" spc="-227" dirty="0">
                <a:solidFill>
                  <a:srgbClr val="71FFFF"/>
                </a:solidFill>
                <a:latin typeface="Trebuchet MS"/>
                <a:cs typeface="Trebuchet MS"/>
              </a:rPr>
              <a:t>&gt;</a:t>
            </a:r>
            <a:endParaRPr sz="4000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2B815C9-733B-C84C-3A8A-9C3DC8BAC148}"/>
              </a:ext>
            </a:extLst>
          </p:cNvPr>
          <p:cNvSpPr txBox="1"/>
          <p:nvPr/>
        </p:nvSpPr>
        <p:spPr>
          <a:xfrm>
            <a:off x="1065310" y="704020"/>
            <a:ext cx="63754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b="1" kern="0" spc="-233" dirty="0">
                <a:solidFill>
                  <a:srgbClr val="71FFFF"/>
                </a:solidFill>
                <a:latin typeface="Trebuchet MS"/>
                <a:cs typeface="Trebuchet MS"/>
              </a:rPr>
              <a:t>&lt;</a:t>
            </a:r>
            <a:r>
              <a:rPr sz="4000" b="1" kern="0" spc="-233" dirty="0">
                <a:solidFill>
                  <a:srgbClr val="71FFDD"/>
                </a:solidFill>
                <a:latin typeface="Trebuchet MS"/>
                <a:cs typeface="Trebuchet MS"/>
              </a:rPr>
              <a:t>//</a:t>
            </a:r>
            <a:endParaRPr sz="4000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2AB52A1-B19D-8AB7-57FA-C19D6A823195}"/>
              </a:ext>
            </a:extLst>
          </p:cNvPr>
          <p:cNvSpPr/>
          <p:nvPr/>
        </p:nvSpPr>
        <p:spPr>
          <a:xfrm>
            <a:off x="7506886" y="2240281"/>
            <a:ext cx="3726180" cy="2957407"/>
          </a:xfrm>
          <a:custGeom>
            <a:avLst/>
            <a:gdLst/>
            <a:ahLst/>
            <a:cxnLst/>
            <a:rect l="l" t="t" r="r" b="b"/>
            <a:pathLst>
              <a:path w="2794634" h="2218054">
                <a:moveTo>
                  <a:pt x="359410" y="0"/>
                </a:moveTo>
                <a:lnTo>
                  <a:pt x="2434716" y="0"/>
                </a:lnTo>
                <a:lnTo>
                  <a:pt x="2485226" y="8142"/>
                </a:lnTo>
                <a:lnTo>
                  <a:pt x="2529085" y="30817"/>
                </a:lnTo>
                <a:lnTo>
                  <a:pt x="2563665" y="65397"/>
                </a:lnTo>
                <a:lnTo>
                  <a:pt x="2586340" y="109256"/>
                </a:lnTo>
                <a:lnTo>
                  <a:pt x="2594483" y="159765"/>
                </a:lnTo>
                <a:lnTo>
                  <a:pt x="2594483" y="1898395"/>
                </a:lnTo>
                <a:lnTo>
                  <a:pt x="199644" y="1898395"/>
                </a:lnTo>
                <a:lnTo>
                  <a:pt x="199644" y="159765"/>
                </a:lnTo>
                <a:lnTo>
                  <a:pt x="207786" y="109256"/>
                </a:lnTo>
                <a:lnTo>
                  <a:pt x="230461" y="65397"/>
                </a:lnTo>
                <a:lnTo>
                  <a:pt x="265041" y="30817"/>
                </a:lnTo>
                <a:lnTo>
                  <a:pt x="308900" y="8142"/>
                </a:lnTo>
                <a:lnTo>
                  <a:pt x="359410" y="0"/>
                </a:lnTo>
                <a:close/>
              </a:path>
              <a:path w="2794634" h="2218054">
                <a:moveTo>
                  <a:pt x="2699766" y="2218042"/>
                </a:moveTo>
                <a:lnTo>
                  <a:pt x="94361" y="2218042"/>
                </a:lnTo>
                <a:lnTo>
                  <a:pt x="57650" y="2210622"/>
                </a:lnTo>
                <a:lnTo>
                  <a:pt x="27654" y="2190394"/>
                </a:lnTo>
                <a:lnTo>
                  <a:pt x="7421" y="2160402"/>
                </a:lnTo>
                <a:lnTo>
                  <a:pt x="0" y="2123693"/>
                </a:lnTo>
                <a:lnTo>
                  <a:pt x="0" y="2029333"/>
                </a:lnTo>
                <a:lnTo>
                  <a:pt x="2794127" y="2029333"/>
                </a:lnTo>
                <a:lnTo>
                  <a:pt x="2794127" y="2123693"/>
                </a:lnTo>
                <a:lnTo>
                  <a:pt x="2786705" y="2160402"/>
                </a:lnTo>
                <a:lnTo>
                  <a:pt x="2766472" y="2190394"/>
                </a:lnTo>
                <a:lnTo>
                  <a:pt x="2736476" y="2210622"/>
                </a:lnTo>
                <a:lnTo>
                  <a:pt x="2699766" y="2218042"/>
                </a:lnTo>
                <a:close/>
              </a:path>
            </a:pathLst>
          </a:custGeom>
          <a:ln w="19050">
            <a:solidFill>
              <a:srgbClr val="71FFDD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A67B439-527B-CF5E-D834-0B36DF7E2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2286000"/>
            <a:ext cx="3175462" cy="2473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9909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2D257AE-9E54-69F1-2508-AF014D9B7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3C3F35D-3D64-CCD7-9A27-1310E50A26DB}"/>
              </a:ext>
            </a:extLst>
          </p:cNvPr>
          <p:cNvGrpSpPr/>
          <p:nvPr/>
        </p:nvGrpSpPr>
        <p:grpSpPr>
          <a:xfrm>
            <a:off x="-12699" y="-14437"/>
            <a:ext cx="12204700" cy="6870697"/>
            <a:chOff x="-4762" y="-4762"/>
            <a:chExt cx="9153525" cy="5153023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B5E4F84-BFE3-963E-51D3-7117B3096F9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4762" y="-4762"/>
              <a:ext cx="9153525" cy="5153023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39FF039-3C73-E591-1A57-036ED67B0655}"/>
                </a:ext>
              </a:extLst>
            </p:cNvPr>
            <p:cNvSpPr/>
            <p:nvPr/>
          </p:nvSpPr>
          <p:spPr>
            <a:xfrm>
              <a:off x="716800" y="4855171"/>
              <a:ext cx="7696200" cy="0"/>
            </a:xfrm>
            <a:custGeom>
              <a:avLst/>
              <a:gdLst/>
              <a:ahLst/>
              <a:cxnLst/>
              <a:rect l="l" t="t" r="r" b="b"/>
              <a:pathLst>
                <a:path w="7696200">
                  <a:moveTo>
                    <a:pt x="0" y="0"/>
                  </a:moveTo>
                  <a:lnTo>
                    <a:pt x="7695933" y="0"/>
                  </a:lnTo>
                </a:path>
              </a:pathLst>
            </a:custGeom>
            <a:ln w="19050">
              <a:solidFill>
                <a:srgbClr val="71FFDD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EE76A39E-68B8-71AB-E86C-03F94DA9DF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8800" y="774124"/>
            <a:ext cx="8737600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spcBef>
                <a:spcPts val="133"/>
              </a:spcBef>
            </a:pP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ML </a:t>
            </a: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techniques</a:t>
            </a: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during</a:t>
            </a: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execution</a:t>
            </a: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b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sz="240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C85A1CC-FEAC-11A3-5D54-31F294B4BED8}"/>
              </a:ext>
            </a:extLst>
          </p:cNvPr>
          <p:cNvSpPr txBox="1"/>
          <p:nvPr/>
        </p:nvSpPr>
        <p:spPr>
          <a:xfrm>
            <a:off x="10489353" y="704020"/>
            <a:ext cx="638387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b="1" kern="0" spc="-227" dirty="0">
                <a:solidFill>
                  <a:srgbClr val="71FFDD"/>
                </a:solidFill>
                <a:latin typeface="Trebuchet MS"/>
                <a:cs typeface="Trebuchet MS"/>
              </a:rPr>
              <a:t>//</a:t>
            </a:r>
            <a:r>
              <a:rPr sz="4000" b="1" kern="0" spc="-227" dirty="0">
                <a:solidFill>
                  <a:srgbClr val="71FFFF"/>
                </a:solidFill>
                <a:latin typeface="Trebuchet MS"/>
                <a:cs typeface="Trebuchet MS"/>
              </a:rPr>
              <a:t>&gt;</a:t>
            </a:r>
            <a:endParaRPr sz="4000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9AFFB09-EA0F-4F33-9AFA-02C0C77520AE}"/>
              </a:ext>
            </a:extLst>
          </p:cNvPr>
          <p:cNvSpPr txBox="1"/>
          <p:nvPr/>
        </p:nvSpPr>
        <p:spPr>
          <a:xfrm>
            <a:off x="1065310" y="704020"/>
            <a:ext cx="63754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b="1" kern="0" spc="-233" dirty="0">
                <a:solidFill>
                  <a:srgbClr val="71FFFF"/>
                </a:solidFill>
                <a:latin typeface="Trebuchet MS"/>
                <a:cs typeface="Trebuchet MS"/>
              </a:rPr>
              <a:t>&lt;</a:t>
            </a:r>
            <a:r>
              <a:rPr sz="4000" b="1" kern="0" spc="-233" dirty="0">
                <a:solidFill>
                  <a:srgbClr val="71FFDD"/>
                </a:solidFill>
                <a:latin typeface="Trebuchet MS"/>
                <a:cs typeface="Trebuchet MS"/>
              </a:rPr>
              <a:t>//</a:t>
            </a:r>
            <a:endParaRPr sz="4000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00BCB0C-A9BB-A52A-86D7-ABB30B880845}"/>
              </a:ext>
            </a:extLst>
          </p:cNvPr>
          <p:cNvSpPr txBox="1"/>
          <p:nvPr/>
        </p:nvSpPr>
        <p:spPr>
          <a:xfrm>
            <a:off x="821539" y="1476149"/>
            <a:ext cx="10389445" cy="514243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CNN </a:t>
            </a:r>
            <a:r>
              <a:rPr lang="tr-TR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1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(Weather Station Classification)</a:t>
            </a:r>
            <a:endParaRPr lang="tr-TR" sz="1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optimized a CNN for station-based classification to test how architectural changes influence performance.</a:t>
            </a:r>
          </a:p>
          <a:p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CNN trained on station data improved dramatically from 10.23% → 75.95% accuracy after hyperparameter optimization</a:t>
            </a:r>
            <a:r>
              <a:rPr lang="tr-TR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tuned model produced much cleaner confusion matrices but concentrated predictions on fewer stations.</a:t>
            </a:r>
            <a:endParaRPr lang="tr-TR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tr-TR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CNN 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 Image Classification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CNN was applied to classify radar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 weather images because convolutional layers are effective at learning visual patterns. The model reached 93.9% train accuracy and 87.95% validation accuracy and correctly predicted real photographs</a:t>
            </a:r>
            <a:endParaRPr lang="tr-TR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tr-TR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Forest was used to understand which meteorological variables have the strongest influence on pleasant/unpleasant conditions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model consistently highlighting max temperature, precipitation and mean temperature as the major drivers.</a:t>
            </a:r>
            <a:endParaRPr lang="tr-T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(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Synthetic Weather Scenario Exploration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 were explored conceptually to generate synthetic climate samples and extreme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 scenarios. </a:t>
            </a:r>
            <a:endParaRPr lang="tr-T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ClimateWins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simulate long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 climate possibilities beyond available historical data.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 can support forecasting in areas with missing, sparse or inconsistent climate records.</a:t>
            </a:r>
          </a:p>
          <a:p>
            <a:endParaRPr lang="en-US" sz="1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>
              <a:buClr>
                <a:srgbClr val="FFFF00"/>
              </a:buClr>
            </a:pPr>
            <a:endParaRPr lang="en-US" altLang="en-US" sz="1600" kern="0" dirty="0">
              <a:solidFill>
                <a:prstClr val="whit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590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A6D949-DF47-AF02-DEC6-8B656FD9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66ED818-B2C5-105B-A932-6C8BBCD26775}"/>
              </a:ext>
            </a:extLst>
          </p:cNvPr>
          <p:cNvGrpSpPr/>
          <p:nvPr/>
        </p:nvGrpSpPr>
        <p:grpSpPr>
          <a:xfrm>
            <a:off x="-12700" y="-14437"/>
            <a:ext cx="12204700" cy="6870697"/>
            <a:chOff x="-4762" y="-4762"/>
            <a:chExt cx="9153525" cy="5153023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A1F14DF-001F-A0E0-FF0B-5DA50D1CA7B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4762" y="-4762"/>
              <a:ext cx="9153525" cy="5153023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4AC9CF8-D57D-44DF-16D8-262EAE62477A}"/>
                </a:ext>
              </a:extLst>
            </p:cNvPr>
            <p:cNvSpPr/>
            <p:nvPr/>
          </p:nvSpPr>
          <p:spPr>
            <a:xfrm>
              <a:off x="716800" y="4855171"/>
              <a:ext cx="7696200" cy="0"/>
            </a:xfrm>
            <a:custGeom>
              <a:avLst/>
              <a:gdLst/>
              <a:ahLst/>
              <a:cxnLst/>
              <a:rect l="l" t="t" r="r" b="b"/>
              <a:pathLst>
                <a:path w="7696200">
                  <a:moveTo>
                    <a:pt x="0" y="0"/>
                  </a:moveTo>
                  <a:lnTo>
                    <a:pt x="7695933" y="0"/>
                  </a:lnTo>
                </a:path>
              </a:pathLst>
            </a:custGeom>
            <a:ln w="19050">
              <a:solidFill>
                <a:srgbClr val="71FFDD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FFC6EB19-3318-D3AE-9352-8C58236E3E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8800" y="860211"/>
            <a:ext cx="873760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spcBef>
                <a:spcPts val="133"/>
              </a:spcBef>
            </a:pP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Proposed</a:t>
            </a: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machine</a:t>
            </a: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tr-T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400" dirty="0" err="1"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86F6121-4296-D15B-A22E-712FD31BC8FE}"/>
              </a:ext>
            </a:extLst>
          </p:cNvPr>
          <p:cNvSpPr txBox="1"/>
          <p:nvPr/>
        </p:nvSpPr>
        <p:spPr>
          <a:xfrm>
            <a:off x="10489353" y="704020"/>
            <a:ext cx="638387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b="1" kern="0" spc="-227" dirty="0">
                <a:solidFill>
                  <a:srgbClr val="71FFDD"/>
                </a:solidFill>
                <a:latin typeface="Trebuchet MS"/>
                <a:cs typeface="Trebuchet MS"/>
              </a:rPr>
              <a:t>//</a:t>
            </a:r>
            <a:r>
              <a:rPr sz="4000" b="1" kern="0" spc="-227" dirty="0">
                <a:solidFill>
                  <a:srgbClr val="71FFFF"/>
                </a:solidFill>
                <a:latin typeface="Trebuchet MS"/>
                <a:cs typeface="Trebuchet MS"/>
              </a:rPr>
              <a:t>&gt;</a:t>
            </a:r>
            <a:endParaRPr sz="4000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B245CC9-0415-58BC-6842-C04F72F5441F}"/>
              </a:ext>
            </a:extLst>
          </p:cNvPr>
          <p:cNvSpPr txBox="1"/>
          <p:nvPr/>
        </p:nvSpPr>
        <p:spPr>
          <a:xfrm>
            <a:off x="1065310" y="704020"/>
            <a:ext cx="63754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b="1" kern="0" spc="-233" dirty="0">
                <a:solidFill>
                  <a:srgbClr val="71FFFF"/>
                </a:solidFill>
                <a:latin typeface="Trebuchet MS"/>
                <a:cs typeface="Trebuchet MS"/>
              </a:rPr>
              <a:t>&lt;</a:t>
            </a:r>
            <a:r>
              <a:rPr sz="4000" b="1" kern="0" spc="-233" dirty="0">
                <a:solidFill>
                  <a:srgbClr val="71FFDD"/>
                </a:solidFill>
                <a:latin typeface="Trebuchet MS"/>
                <a:cs typeface="Trebuchet MS"/>
              </a:rPr>
              <a:t>//</a:t>
            </a:r>
            <a:endParaRPr sz="4000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84E99AF-DC75-4CDA-7445-28564EB41ECC}"/>
              </a:ext>
            </a:extLst>
          </p:cNvPr>
          <p:cNvSpPr txBox="1"/>
          <p:nvPr/>
        </p:nvSpPr>
        <p:spPr>
          <a:xfrm>
            <a:off x="949384" y="1655529"/>
            <a:ext cx="10509711" cy="297260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meet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ClimateWins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long-term goals, I propose three research directions: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ased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ynthetic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limate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enerator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 realistic long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 climate scenarios to fill gaps in historical data and simulate multiple future paths, supporting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ClimateWins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25–50 year forecasting objective.</a:t>
            </a:r>
            <a:endParaRPr lang="tr-T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tr-T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LSTM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ulti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ariable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limate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orecaster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temperature, precipitation, humidity and wind trajectories using sequential dependencies to identify long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 directional shifts and detect whether abnormal patterns are accelerating across Europe.</a:t>
            </a:r>
            <a:endParaRPr lang="tr-T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orest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xtreme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arly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arning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lassifier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 which meteorological variables are early indicators of extreme events (heatwaves, storms, cold spells).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interpretable feature importance to support decision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makers and risk planning.</a:t>
            </a:r>
            <a:endParaRPr lang="en-US" altLang="en-US" sz="1600" kern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59F2C10-76F3-AD22-313F-4E4A03C7E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82" y="4628137"/>
            <a:ext cx="10261599" cy="183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076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1EC78-CCAA-3D3B-A503-B755B54F7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B6DB88E-2E95-F7DD-161F-00BB911549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4644" y="806062"/>
            <a:ext cx="8736676" cy="385576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algn="ctr">
              <a:spcBef>
                <a:spcPts val="127"/>
              </a:spcBef>
            </a:pPr>
            <a:r>
              <a:rPr lang="tr-TR" sz="2400" spc="-147" dirty="0" err="1">
                <a:latin typeface="Arial" panose="020B0604020202020204" pitchFamily="34" charset="0"/>
                <a:cs typeface="Arial" panose="020B0604020202020204" pitchFamily="34" charset="0"/>
              </a:rPr>
              <a:t>Thought</a:t>
            </a:r>
            <a:r>
              <a:rPr lang="tr-TR" sz="2400" spc="-14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400" spc="-147" dirty="0" err="1">
                <a:latin typeface="Arial" panose="020B0604020202020204" pitchFamily="34" charset="0"/>
                <a:cs typeface="Arial" panose="020B0604020202020204" pitchFamily="34" charset="0"/>
              </a:rPr>
              <a:t>experiment</a:t>
            </a:r>
            <a:r>
              <a:rPr lang="tr-TR" sz="2400" spc="-147" dirty="0"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F0CD3FB-A398-EE5A-5CF1-2FF9BC9CE5F5}"/>
              </a:ext>
            </a:extLst>
          </p:cNvPr>
          <p:cNvSpPr txBox="1"/>
          <p:nvPr/>
        </p:nvSpPr>
        <p:spPr>
          <a:xfrm>
            <a:off x="10489353" y="704020"/>
            <a:ext cx="638387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b="1" kern="0" spc="-227" dirty="0">
                <a:solidFill>
                  <a:srgbClr val="71FFDD"/>
                </a:solidFill>
                <a:latin typeface="Trebuchet MS"/>
                <a:cs typeface="Trebuchet MS"/>
              </a:rPr>
              <a:t>//</a:t>
            </a:r>
            <a:r>
              <a:rPr sz="4000" b="1" kern="0" spc="-227" dirty="0">
                <a:solidFill>
                  <a:srgbClr val="71FFFF"/>
                </a:solidFill>
                <a:latin typeface="Trebuchet MS"/>
                <a:cs typeface="Trebuchet MS"/>
              </a:rPr>
              <a:t>&gt;</a:t>
            </a:r>
            <a:endParaRPr sz="4000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D38E5F4-8345-BDDA-724F-5D34188F862E}"/>
              </a:ext>
            </a:extLst>
          </p:cNvPr>
          <p:cNvSpPr txBox="1"/>
          <p:nvPr/>
        </p:nvSpPr>
        <p:spPr>
          <a:xfrm>
            <a:off x="1065310" y="704020"/>
            <a:ext cx="63754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b="1" kern="0" spc="-233" dirty="0">
                <a:solidFill>
                  <a:srgbClr val="71FFFF"/>
                </a:solidFill>
                <a:latin typeface="Trebuchet MS"/>
                <a:cs typeface="Trebuchet MS"/>
              </a:rPr>
              <a:t>&lt;</a:t>
            </a:r>
            <a:r>
              <a:rPr sz="4000" b="1" kern="0" spc="-233" dirty="0">
                <a:solidFill>
                  <a:srgbClr val="71FFDD"/>
                </a:solidFill>
                <a:latin typeface="Trebuchet MS"/>
                <a:cs typeface="Trebuchet MS"/>
              </a:rPr>
              <a:t>//</a:t>
            </a:r>
            <a:endParaRPr sz="4000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9C5492-1A63-42BF-306B-D898B8799C5C}"/>
              </a:ext>
            </a:extLst>
          </p:cNvPr>
          <p:cNvSpPr txBox="1"/>
          <p:nvPr/>
        </p:nvSpPr>
        <p:spPr>
          <a:xfrm>
            <a:off x="756690" y="1403004"/>
            <a:ext cx="6134562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orest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xtreme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arly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arning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lassifier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Identify weather outside normal patterns.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Evaluate future regional safety in Europe.</a:t>
            </a: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Concept: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Random Forest model can classify whether current atmospheric conditions are leading toward an extreme event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analyzing feature importance, the model also reveals which physical signals serve as the earliest warnings.</a:t>
            </a: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Random Forest: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this </a:t>
            </a:r>
            <a:r>
              <a:rPr lang="tr-T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 used Random Forests to interpret non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interactions and identify the most influential variables. Their transparency makes them ideal for safety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critical forecasting where explainability matters.</a:t>
            </a: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Required: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Historical catalogues of extreme events with timestamps.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Historical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1960-2020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Output: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classifier that assigns a “risk score” for extreme events enabling more accurate early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warning systems</a:t>
            </a:r>
            <a:r>
              <a:rPr lang="en-US" dirty="0"/>
              <a:t>.</a:t>
            </a:r>
          </a:p>
          <a:p>
            <a:pPr defTabSz="1219170"/>
            <a:endParaRPr lang="en-US" sz="1600" kern="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F70B8F-07B6-7069-D347-7F7374EB1C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1704" y="1490288"/>
            <a:ext cx="3891220" cy="2021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0523F1-66C3-34F0-7C87-D6D86ABF5F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1704" y="3549701"/>
            <a:ext cx="3891220" cy="205307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80138B-8B6C-1B20-3CA6-CEA242F80E2D}"/>
              </a:ext>
            </a:extLst>
          </p:cNvPr>
          <p:cNvSpPr txBox="1"/>
          <p:nvPr/>
        </p:nvSpPr>
        <p:spPr>
          <a:xfrm>
            <a:off x="7340137" y="5690062"/>
            <a:ext cx="46135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tr-T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tr-T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</a:t>
            </a:r>
            <a:r>
              <a:rPr lang="tr-T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tree</a:t>
            </a:r>
            <a:r>
              <a:rPr lang="tr-T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tr-T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r>
              <a:rPr lang="tr-T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importance</a:t>
            </a:r>
            <a:r>
              <a:rPr lang="tr-T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tr-TR" sz="11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Madrid </a:t>
            </a:r>
            <a:r>
              <a:rPr lang="tr-TR" sz="11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station</a:t>
            </a:r>
            <a:endParaRPr lang="en-US" sz="11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343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89EB7-FE48-89C3-B713-91679AA0A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0658D24-6A28-AF85-29A6-FDA123177A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4644" y="806062"/>
            <a:ext cx="8736676" cy="385576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algn="ctr">
              <a:spcBef>
                <a:spcPts val="127"/>
              </a:spcBef>
            </a:pPr>
            <a:r>
              <a:rPr lang="tr-TR" sz="2400" spc="-147" dirty="0" err="1">
                <a:latin typeface="Arial" panose="020B0604020202020204" pitchFamily="34" charset="0"/>
                <a:cs typeface="Arial" panose="020B0604020202020204" pitchFamily="34" charset="0"/>
              </a:rPr>
              <a:t>Thought</a:t>
            </a:r>
            <a:r>
              <a:rPr lang="tr-TR" sz="2400" spc="-14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400" spc="-147" dirty="0" err="1">
                <a:latin typeface="Arial" panose="020B0604020202020204" pitchFamily="34" charset="0"/>
                <a:cs typeface="Arial" panose="020B0604020202020204" pitchFamily="34" charset="0"/>
              </a:rPr>
              <a:t>experiment</a:t>
            </a:r>
            <a:r>
              <a:rPr lang="tr-TR" sz="2400" spc="-147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E5E7D57-EA78-0743-DB77-3A5E1A2D2B29}"/>
              </a:ext>
            </a:extLst>
          </p:cNvPr>
          <p:cNvSpPr txBox="1"/>
          <p:nvPr/>
        </p:nvSpPr>
        <p:spPr>
          <a:xfrm>
            <a:off x="10489353" y="704020"/>
            <a:ext cx="638387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b="1" kern="0" spc="-227" dirty="0">
                <a:solidFill>
                  <a:srgbClr val="71FFDD"/>
                </a:solidFill>
                <a:latin typeface="Trebuchet MS"/>
                <a:cs typeface="Trebuchet MS"/>
              </a:rPr>
              <a:t>//</a:t>
            </a:r>
            <a:r>
              <a:rPr sz="4000" b="1" kern="0" spc="-227" dirty="0">
                <a:solidFill>
                  <a:srgbClr val="71FFFF"/>
                </a:solidFill>
                <a:latin typeface="Trebuchet MS"/>
                <a:cs typeface="Trebuchet MS"/>
              </a:rPr>
              <a:t>&gt;</a:t>
            </a:r>
            <a:endParaRPr sz="4000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4BC0DD5-D744-FA2A-3781-133434EC8AE4}"/>
              </a:ext>
            </a:extLst>
          </p:cNvPr>
          <p:cNvSpPr txBox="1"/>
          <p:nvPr/>
        </p:nvSpPr>
        <p:spPr>
          <a:xfrm>
            <a:off x="1065310" y="704020"/>
            <a:ext cx="63754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b="1" kern="0" spc="-233" dirty="0">
                <a:solidFill>
                  <a:srgbClr val="71FFFF"/>
                </a:solidFill>
                <a:latin typeface="Trebuchet MS"/>
                <a:cs typeface="Trebuchet MS"/>
              </a:rPr>
              <a:t>&lt;</a:t>
            </a:r>
            <a:r>
              <a:rPr sz="4000" b="1" kern="0" spc="-233" dirty="0">
                <a:solidFill>
                  <a:srgbClr val="71FFDD"/>
                </a:solidFill>
                <a:latin typeface="Trebuchet MS"/>
                <a:cs typeface="Trebuchet MS"/>
              </a:rPr>
              <a:t>//</a:t>
            </a:r>
            <a:endParaRPr sz="4000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909389-0192-DBE9-A5FA-4F599C2CB84A}"/>
              </a:ext>
            </a:extLst>
          </p:cNvPr>
          <p:cNvSpPr txBox="1"/>
          <p:nvPr/>
        </p:nvSpPr>
        <p:spPr>
          <a:xfrm>
            <a:off x="756690" y="1403004"/>
            <a:ext cx="1099750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ased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ynthetic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limate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cenario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enerator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 Supported: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Generate possible future climate conditions (25–50 years).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Identify </a:t>
            </a:r>
            <a:r>
              <a:rPr lang="tr-T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safest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place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live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Europe in </a:t>
            </a:r>
            <a:r>
              <a:rPr lang="tr-T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Concept: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 can learn Europe’s historical climate distribution and then generate thousands of realistic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 sequences. This synthetic data expands beyond the limited changes observed in recent decades and models low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frequency, high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events </a:t>
            </a:r>
            <a:endParaRPr lang="tr-T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GAN: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 excel at approximating complex, multi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modal distributions that cannot be captured by traditional statistical models. They can produce many plausible futures rather than one deterministic prediction.</a:t>
            </a: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Required: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Historical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1960-2020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Topographic and regional climate classifications.</a:t>
            </a: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Output: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library of “future climate scenarios” to stress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infrastructure, agriculture and long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 planning.</a:t>
            </a:r>
          </a:p>
          <a:p>
            <a:br>
              <a:rPr lang="en-US" dirty="0"/>
            </a:br>
            <a:endParaRPr lang="en-US" dirty="0"/>
          </a:p>
          <a:p>
            <a:pPr defTabSz="1219170"/>
            <a:endParaRPr lang="en-US" sz="1600" kern="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66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12917-5C5B-49DA-6017-33489B3AD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7FC22DE-6B15-0884-78B8-4B7E790E1E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4644" y="806062"/>
            <a:ext cx="8736676" cy="385576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algn="ctr">
              <a:spcBef>
                <a:spcPts val="127"/>
              </a:spcBef>
            </a:pPr>
            <a:r>
              <a:rPr lang="tr-TR" sz="2400" spc="-147" dirty="0" err="1">
                <a:latin typeface="Arial" panose="020B0604020202020204" pitchFamily="34" charset="0"/>
                <a:cs typeface="Arial" panose="020B0604020202020204" pitchFamily="34" charset="0"/>
              </a:rPr>
              <a:t>Thought</a:t>
            </a:r>
            <a:r>
              <a:rPr lang="tr-TR" sz="2400" spc="-14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2400" spc="-147" dirty="0" err="1">
                <a:latin typeface="Arial" panose="020B0604020202020204" pitchFamily="34" charset="0"/>
                <a:cs typeface="Arial" panose="020B0604020202020204" pitchFamily="34" charset="0"/>
              </a:rPr>
              <a:t>experiment</a:t>
            </a:r>
            <a:r>
              <a:rPr lang="tr-TR" sz="2400" spc="-147" dirty="0"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458B3E7-8C82-3A31-0767-04830E5B1E74}"/>
              </a:ext>
            </a:extLst>
          </p:cNvPr>
          <p:cNvSpPr txBox="1"/>
          <p:nvPr/>
        </p:nvSpPr>
        <p:spPr>
          <a:xfrm>
            <a:off x="10489353" y="704020"/>
            <a:ext cx="638387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b="1" kern="0" spc="-227" dirty="0">
                <a:solidFill>
                  <a:srgbClr val="71FFDD"/>
                </a:solidFill>
                <a:latin typeface="Trebuchet MS"/>
                <a:cs typeface="Trebuchet MS"/>
              </a:rPr>
              <a:t>//</a:t>
            </a:r>
            <a:r>
              <a:rPr sz="4000" b="1" kern="0" spc="-227" dirty="0">
                <a:solidFill>
                  <a:srgbClr val="71FFFF"/>
                </a:solidFill>
                <a:latin typeface="Trebuchet MS"/>
                <a:cs typeface="Trebuchet MS"/>
              </a:rPr>
              <a:t>&gt;</a:t>
            </a:r>
            <a:endParaRPr sz="4000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61CADD2-8A24-BB41-B38D-707A099EE450}"/>
              </a:ext>
            </a:extLst>
          </p:cNvPr>
          <p:cNvSpPr txBox="1"/>
          <p:nvPr/>
        </p:nvSpPr>
        <p:spPr>
          <a:xfrm>
            <a:off x="1065310" y="704020"/>
            <a:ext cx="63754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b="1" kern="0" spc="-233" dirty="0">
                <a:solidFill>
                  <a:srgbClr val="71FFFF"/>
                </a:solidFill>
                <a:latin typeface="Trebuchet MS"/>
                <a:cs typeface="Trebuchet MS"/>
              </a:rPr>
              <a:t>&lt;</a:t>
            </a:r>
            <a:r>
              <a:rPr sz="4000" b="1" kern="0" spc="-233" dirty="0">
                <a:solidFill>
                  <a:srgbClr val="71FFDD"/>
                </a:solidFill>
                <a:latin typeface="Trebuchet MS"/>
                <a:cs typeface="Trebuchet MS"/>
              </a:rPr>
              <a:t>//</a:t>
            </a:r>
            <a:endParaRPr sz="4000" kern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E17B0D-9E99-33A4-8DFB-A0F5498FD134}"/>
              </a:ext>
            </a:extLst>
          </p:cNvPr>
          <p:cNvSpPr txBox="1"/>
          <p:nvPr/>
        </p:nvSpPr>
        <p:spPr>
          <a:xfrm>
            <a:off x="756690" y="1403004"/>
            <a:ext cx="10997506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LSTM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ased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ulti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ariable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limate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 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orecasting</a:t>
            </a: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 Supported: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Identify abnormal patterns.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Predict regional climate evolution over multiple decades.</a:t>
            </a: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Concept: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multi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LSTM network ingests decades of European weather records and learns long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 temporal relationships between temperature, humidity, wind, pressure and precipitation. The model forecasts how these variables will drift over time and flags deviations from historical norms.</a:t>
            </a: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LSTM:</a:t>
            </a:r>
            <a:b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LSTM retain long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 context far better than classical models.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 this </a:t>
            </a:r>
            <a:r>
              <a:rPr lang="tr-T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 applied LSTM architectures to time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series data and achieved strong validation accuracy.</a:t>
            </a: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Required:</a:t>
            </a:r>
            <a:b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tr-T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Historical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1960-2020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Land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and urbanization changes.</a:t>
            </a: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Output: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long-term climate trend predictions with anomaly scores indicating unusual pattern shifts.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1219170"/>
            <a:endParaRPr lang="en-US" sz="1600" kern="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484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FB02A-4507-B721-9ADD-1EDE45CA8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95D6171-73C0-B2C1-466F-3C6366D70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1023" y="858597"/>
            <a:ext cx="7000626" cy="385576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algn="ctr">
              <a:spcBef>
                <a:spcPts val="127"/>
              </a:spcBef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Strategy &amp; Recommendations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1AE6A84-7843-745E-8FD8-9D33AE98C425}"/>
              </a:ext>
            </a:extLst>
          </p:cNvPr>
          <p:cNvSpPr txBox="1"/>
          <p:nvPr/>
        </p:nvSpPr>
        <p:spPr>
          <a:xfrm>
            <a:off x="1065106" y="857743"/>
            <a:ext cx="1006178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9440097" algn="l"/>
              </a:tabLst>
            </a:pPr>
            <a:r>
              <a:rPr lang="en-US" sz="2400" b="1" kern="0" spc="-33" dirty="0">
                <a:solidFill>
                  <a:srgbClr val="71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sz="2400" b="1" kern="0" spc="-33" dirty="0">
                <a:solidFill>
                  <a:srgbClr val="71FFD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lang="en-US" sz="2400" b="1" kern="0" dirty="0">
                <a:solidFill>
                  <a:srgbClr val="71FFD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1" kern="0" spc="-227" dirty="0">
                <a:solidFill>
                  <a:srgbClr val="71FFD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lang="en-US" sz="2400" b="1" kern="0" spc="-227" dirty="0">
                <a:solidFill>
                  <a:srgbClr val="71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sz="2400" kern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B2DA4F16-C56F-A054-E519-D1414D247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582" y="1670380"/>
            <a:ext cx="4476404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Random Forest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Extreme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arly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arning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Fast, explainable, operationally deployable.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Identifies early signs of storms, heatwaves and abnormal patterns.</a:t>
            </a: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LSTM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Long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erm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limate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orecasting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Captures multi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decade climate drift.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Essential for detecting whether anomalies are increasing.</a:t>
            </a:r>
          </a:p>
          <a:p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GAN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Synthetic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limate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cenarios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Generates multiple future climate trajectories.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Supports long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 planning and risk exploration.</a:t>
            </a:r>
          </a:p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</a:pPr>
            <a:endParaRPr lang="tr-TR" sz="1600" kern="0" dirty="0">
              <a:solidFill>
                <a:prstClr val="white"/>
              </a:solidFill>
            </a:endParaRPr>
          </a:p>
          <a:p>
            <a:pPr marL="380990" indent="-380990" defTabSz="1219170" eaLnBrk="0" fontAlgn="base" hangingPunct="0">
              <a:spcBef>
                <a:spcPct val="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</a:pPr>
            <a:endParaRPr lang="en-US" altLang="en-US" sz="1600" kern="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74A09-68F2-E249-2677-FF2CE364D4E8}"/>
              </a:ext>
            </a:extLst>
          </p:cNvPr>
          <p:cNvSpPr txBox="1"/>
          <p:nvPr/>
        </p:nvSpPr>
        <p:spPr>
          <a:xfrm>
            <a:off x="5736821" y="1670380"/>
            <a:ext cx="58095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 Steps</a:t>
            </a:r>
            <a:r>
              <a:rPr lang="tr-T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Expand datasets beyond historical records.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Build regional models for Europe.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Validate against extreme</a:t>
            </a:r>
            <a:r>
              <a:rPr lang="tr-T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 timelines.</a:t>
            </a:r>
            <a:b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Integrate all three models into a unified </a:t>
            </a:r>
            <a:r>
              <a:rPr lang="en-US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ClimateWins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pipeline.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B1B9B44-EC37-E51A-2C50-5721287B3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909" y="3429000"/>
            <a:ext cx="4672910" cy="2805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000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2F9DCE8-A4A5-8D16-9943-0872AAB8C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358B2D22-9361-A8F4-B7B2-0E5D7D5AD4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49" y="-6349"/>
            <a:ext cx="12204700" cy="6870697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9385B3C5-B674-4EAE-B136-642CC7FE648E}"/>
              </a:ext>
            </a:extLst>
          </p:cNvPr>
          <p:cNvSpPr txBox="1"/>
          <p:nvPr/>
        </p:nvSpPr>
        <p:spPr>
          <a:xfrm>
            <a:off x="3143672" y="5229284"/>
            <a:ext cx="5655733" cy="42648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algn="ctr" defTabSz="1219170">
              <a:spcBef>
                <a:spcPts val="127"/>
              </a:spcBef>
            </a:pPr>
            <a:r>
              <a:rPr sz="1333" kern="0" spc="-173" dirty="0">
                <a:solidFill>
                  <a:srgbClr val="FFFFFF"/>
                </a:solidFill>
                <a:latin typeface="Tahoma"/>
                <a:cs typeface="Tahoma"/>
              </a:rPr>
              <a:t>CREDITS:</a:t>
            </a:r>
            <a:r>
              <a:rPr sz="1333" kern="0" spc="47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33" kern="0" spc="-60" dirty="0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sz="1333" kern="0" spc="-47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33" kern="0" spc="-60" dirty="0">
                <a:solidFill>
                  <a:srgbClr val="FFFFFF"/>
                </a:solidFill>
                <a:latin typeface="Tahoma"/>
                <a:cs typeface="Tahoma"/>
              </a:rPr>
              <a:t>presentation</a:t>
            </a:r>
            <a:r>
              <a:rPr sz="1333" kern="0" spc="-47" dirty="0">
                <a:solidFill>
                  <a:srgbClr val="FFFFFF"/>
                </a:solidFill>
                <a:latin typeface="Tahoma"/>
                <a:cs typeface="Tahoma"/>
              </a:rPr>
              <a:t> template</a:t>
            </a:r>
            <a:r>
              <a:rPr sz="1333" kern="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33" kern="0" spc="-73" dirty="0">
                <a:solidFill>
                  <a:srgbClr val="FFFFFF"/>
                </a:solidFill>
                <a:latin typeface="Tahoma"/>
                <a:cs typeface="Tahoma"/>
              </a:rPr>
              <a:t>was</a:t>
            </a:r>
            <a:r>
              <a:rPr sz="1333" kern="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33" kern="0" spc="-80" dirty="0">
                <a:solidFill>
                  <a:srgbClr val="FFFFFF"/>
                </a:solidFill>
                <a:latin typeface="Tahoma"/>
                <a:cs typeface="Tahoma"/>
              </a:rPr>
              <a:t>created</a:t>
            </a:r>
            <a:r>
              <a:rPr sz="1333" kern="0" spc="-1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33" kern="0" spc="-40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333" kern="0" spc="7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33" b="1" kern="0" dirty="0">
                <a:solidFill>
                  <a:srgbClr val="FFFFFF"/>
                </a:solidFill>
                <a:latin typeface="Trebuchet MS"/>
                <a:cs typeface="Trebuchet MS"/>
                <a:hlinkClick r:id="rId3"/>
              </a:rPr>
              <a:t>Slidesgo</a:t>
            </a:r>
            <a:r>
              <a:rPr sz="1333" kern="0" dirty="0">
                <a:solidFill>
                  <a:srgbClr val="FFFFFF"/>
                </a:solidFill>
                <a:latin typeface="Tahoma"/>
                <a:cs typeface="Tahoma"/>
              </a:rPr>
              <a:t>,</a:t>
            </a:r>
            <a:r>
              <a:rPr sz="1333" kern="0" spc="-27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33" kern="0" spc="-13" dirty="0">
                <a:solidFill>
                  <a:srgbClr val="FFFFFF"/>
                </a:solidFill>
                <a:latin typeface="Tahoma"/>
                <a:cs typeface="Tahoma"/>
              </a:rPr>
              <a:t>including </a:t>
            </a:r>
            <a:r>
              <a:rPr sz="1333" kern="0" spc="-27" dirty="0">
                <a:solidFill>
                  <a:srgbClr val="FFFFFF"/>
                </a:solidFill>
                <a:latin typeface="Tahoma"/>
                <a:cs typeface="Tahoma"/>
              </a:rPr>
              <a:t>icons</a:t>
            </a:r>
            <a:r>
              <a:rPr sz="1333" kern="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33" kern="0" spc="-33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endParaRPr sz="1333" kern="0" dirty="0">
              <a:solidFill>
                <a:sysClr val="windowText" lastClr="000000"/>
              </a:solidFill>
              <a:latin typeface="Tahoma"/>
              <a:cs typeface="Tahoma"/>
            </a:endParaRPr>
          </a:p>
          <a:p>
            <a:pPr algn="ctr" defTabSz="1219170"/>
            <a:r>
              <a:rPr sz="1333" b="1" kern="0" spc="-13" dirty="0">
                <a:solidFill>
                  <a:srgbClr val="FFFFFF"/>
                </a:solidFill>
                <a:latin typeface="Trebuchet MS"/>
                <a:cs typeface="Trebuchet MS"/>
                <a:hlinkClick r:id="rId4"/>
              </a:rPr>
              <a:t>Flaticon</a:t>
            </a:r>
            <a:r>
              <a:rPr sz="1333" b="1" kern="0" spc="-73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33" kern="0" spc="-87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1333" kern="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33" kern="0" spc="-47" dirty="0">
                <a:solidFill>
                  <a:srgbClr val="FFFFFF"/>
                </a:solidFill>
                <a:latin typeface="Tahoma"/>
                <a:cs typeface="Tahoma"/>
              </a:rPr>
              <a:t>infographics</a:t>
            </a:r>
            <a:r>
              <a:rPr sz="1333" kern="0" spc="-7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33" kern="0" spc="-20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333" kern="0" spc="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33" kern="0" spc="-40" dirty="0">
                <a:solidFill>
                  <a:srgbClr val="FFFFFF"/>
                </a:solidFill>
                <a:latin typeface="Tahoma"/>
                <a:cs typeface="Tahoma"/>
              </a:rPr>
              <a:t>images</a:t>
            </a:r>
            <a:r>
              <a:rPr sz="1333" kern="0" spc="-33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33" kern="0" spc="-73" dirty="0">
                <a:solidFill>
                  <a:srgbClr val="FFFFFF"/>
                </a:solidFill>
                <a:latin typeface="Tahoma"/>
                <a:cs typeface="Tahoma"/>
              </a:rPr>
              <a:t>by</a:t>
            </a:r>
            <a:r>
              <a:rPr sz="1333" kern="0" spc="-27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33" b="1" kern="0" spc="-13" dirty="0">
                <a:solidFill>
                  <a:srgbClr val="FFFFFF"/>
                </a:solidFill>
                <a:latin typeface="Trebuchet MS"/>
                <a:cs typeface="Trebuchet MS"/>
                <a:hlinkClick r:id="rId5"/>
              </a:rPr>
              <a:t>Freepik</a:t>
            </a:r>
            <a:endParaRPr sz="1333" kern="0" dirty="0">
              <a:solidFill>
                <a:sysClr val="windowText" lastClr="000000"/>
              </a:solidFill>
              <a:latin typeface="Trebuchet MS"/>
              <a:cs typeface="Trebuchet M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F7977F7-7EAA-C386-9064-BC2878F1AC90}"/>
              </a:ext>
            </a:extLst>
          </p:cNvPr>
          <p:cNvSpPr/>
          <p:nvPr/>
        </p:nvSpPr>
        <p:spPr>
          <a:xfrm>
            <a:off x="955733" y="957580"/>
            <a:ext cx="10261600" cy="5516033"/>
          </a:xfrm>
          <a:custGeom>
            <a:avLst/>
            <a:gdLst/>
            <a:ahLst/>
            <a:cxnLst/>
            <a:rect l="l" t="t" r="r" b="b"/>
            <a:pathLst>
              <a:path w="7696200" h="4137025">
                <a:moveTo>
                  <a:pt x="0" y="4136986"/>
                </a:moveTo>
                <a:lnTo>
                  <a:pt x="7695933" y="4136986"/>
                </a:lnTo>
              </a:path>
              <a:path w="7696200" h="4137025">
                <a:moveTo>
                  <a:pt x="7541247" y="1614551"/>
                </a:moveTo>
                <a:lnTo>
                  <a:pt x="7541247" y="0"/>
                </a:lnTo>
              </a:path>
            </a:pathLst>
          </a:custGeom>
          <a:ln w="19050">
            <a:solidFill>
              <a:srgbClr val="71FFDD"/>
            </a:solidFill>
          </a:ln>
        </p:spPr>
        <p:txBody>
          <a:bodyPr wrap="square" lIns="0" tIns="0" rIns="0" bIns="0" rtlCol="0"/>
          <a:lstStyle/>
          <a:p>
            <a:pPr defTabSz="1219170"/>
            <a:endParaRPr sz="2400" kern="0">
              <a:solidFill>
                <a:sysClr val="windowText" lastClr="000000"/>
              </a:solidFill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D35D796-A755-6036-F633-5B649AD9F5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1177" y="1281447"/>
            <a:ext cx="6838527" cy="1474634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6933">
              <a:spcBef>
                <a:spcPts val="140"/>
              </a:spcBef>
            </a:pPr>
            <a:r>
              <a:rPr sz="9466" spc="-520" dirty="0">
                <a:solidFill>
                  <a:srgbClr val="71FFFF"/>
                </a:solidFill>
              </a:rPr>
              <a:t>&lt;</a:t>
            </a:r>
            <a:r>
              <a:rPr sz="9466" spc="-520" dirty="0">
                <a:solidFill>
                  <a:srgbClr val="71FFDD"/>
                </a:solidFill>
              </a:rPr>
              <a:t>//</a:t>
            </a:r>
            <a:r>
              <a:rPr sz="9466" spc="-520" dirty="0"/>
              <a:t>Contact</a:t>
            </a:r>
            <a:r>
              <a:rPr sz="9466" spc="-520" dirty="0">
                <a:solidFill>
                  <a:srgbClr val="71FFDD"/>
                </a:solidFill>
              </a:rPr>
              <a:t>//</a:t>
            </a:r>
            <a:r>
              <a:rPr sz="9466" spc="-520" dirty="0">
                <a:solidFill>
                  <a:srgbClr val="71FFFF"/>
                </a:solidFill>
              </a:rPr>
              <a:t>&gt;</a:t>
            </a:r>
            <a:endParaRPr sz="9466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B932AD6-2CA2-AA11-1528-6C7D97E39CDF}"/>
              </a:ext>
            </a:extLst>
          </p:cNvPr>
          <p:cNvSpPr txBox="1"/>
          <p:nvPr/>
        </p:nvSpPr>
        <p:spPr>
          <a:xfrm>
            <a:off x="4666827" y="3237991"/>
            <a:ext cx="2953173" cy="344475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 defTabSz="1219170">
              <a:spcBef>
                <a:spcPts val="127"/>
              </a:spcBef>
            </a:pPr>
            <a:r>
              <a:rPr sz="2133" kern="0" spc="-13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kaan@kaanarslan.com</a:t>
            </a:r>
            <a:endParaRPr sz="2133" kern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DE808E0-D6D2-4A28-060F-15CC4000C646}"/>
              </a:ext>
            </a:extLst>
          </p:cNvPr>
          <p:cNvSpPr txBox="1"/>
          <p:nvPr/>
        </p:nvSpPr>
        <p:spPr>
          <a:xfrm>
            <a:off x="10850402" y="3425613"/>
            <a:ext cx="307777" cy="2848187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6933" defTabSz="1219170">
              <a:lnSpc>
                <a:spcPts val="2385"/>
              </a:lnSpc>
            </a:pPr>
            <a:r>
              <a:rPr sz="2133" kern="0" spc="-13" dirty="0">
                <a:solidFill>
                  <a:srgbClr val="71FFDD"/>
                </a:solid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kaan@kaanarslan.com</a:t>
            </a:r>
            <a:endParaRPr sz="2133" kern="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98BFD2-E5D2-B333-DB24-945E836109A5}"/>
              </a:ext>
            </a:extLst>
          </p:cNvPr>
          <p:cNvSpPr txBox="1"/>
          <p:nvPr/>
        </p:nvSpPr>
        <p:spPr>
          <a:xfrm>
            <a:off x="4666827" y="3779375"/>
            <a:ext cx="4024205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tr-TR" sz="1867" kern="0" dirty="0" err="1">
                <a:solidFill>
                  <a:srgbClr val="FFFF00"/>
                </a:solidFill>
                <a:hlinkClick r:id="rId7"/>
              </a:rPr>
              <a:t>Github</a:t>
            </a:r>
            <a:r>
              <a:rPr lang="tr-TR" sz="1867" kern="0" dirty="0">
                <a:solidFill>
                  <a:srgbClr val="FFFF00"/>
                </a:solidFill>
              </a:rPr>
              <a:t> &amp; </a:t>
            </a:r>
            <a:r>
              <a:rPr lang="tr-TR" sz="1867" kern="0" dirty="0" err="1">
                <a:solidFill>
                  <a:srgbClr val="FFFF00"/>
                </a:solidFill>
                <a:hlinkClick r:id="rId8"/>
              </a:rPr>
              <a:t>Tableau</a:t>
            </a:r>
            <a:r>
              <a:rPr lang="tr-TR" sz="1867" kern="0" dirty="0">
                <a:solidFill>
                  <a:srgbClr val="FFFF00"/>
                </a:solidFill>
                <a:hlinkClick r:id="rId8"/>
              </a:rPr>
              <a:t> </a:t>
            </a:r>
            <a:r>
              <a:rPr lang="tr-TR" sz="1867" kern="0" dirty="0" err="1">
                <a:solidFill>
                  <a:srgbClr val="FFFF00"/>
                </a:solidFill>
                <a:hlinkClick r:id="rId8"/>
              </a:rPr>
              <a:t>public</a:t>
            </a:r>
            <a:endParaRPr lang="en-US" sz="1867" kern="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149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1079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SimSun-ExtB</vt:lpstr>
      <vt:lpstr>Arial</vt:lpstr>
      <vt:lpstr>Calibri</vt:lpstr>
      <vt:lpstr>Calibri Light</vt:lpstr>
      <vt:lpstr>Tahoma</vt:lpstr>
      <vt:lpstr>Trebuchet MS</vt:lpstr>
      <vt:lpstr>Wingdings</vt:lpstr>
      <vt:lpstr>Office Theme</vt:lpstr>
      <vt:lpstr>1_Office Theme</vt:lpstr>
      <vt:lpstr>Weather Conditions and Climate Change with ClimateWins </vt:lpstr>
      <vt:lpstr>Weather Conditions and Climate Change with ClimateWins</vt:lpstr>
      <vt:lpstr>ML techniques during the execution of the project </vt:lpstr>
      <vt:lpstr>Proposed machine learning strategy</vt:lpstr>
      <vt:lpstr>Thought experiment 1</vt:lpstr>
      <vt:lpstr>Thought experiment 2</vt:lpstr>
      <vt:lpstr>Thought experiment 3</vt:lpstr>
      <vt:lpstr>Strategy &amp; Recommendations</vt:lpstr>
      <vt:lpstr>&lt;//Contact//&gt;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Akın</dc:creator>
  <cp:lastModifiedBy>Akın</cp:lastModifiedBy>
  <cp:revision>3</cp:revision>
  <dcterms:created xsi:type="dcterms:W3CDTF">2025-11-17T13:32:56Z</dcterms:created>
  <dcterms:modified xsi:type="dcterms:W3CDTF">2025-11-30T12:31:22Z</dcterms:modified>
</cp:coreProperties>
</file>